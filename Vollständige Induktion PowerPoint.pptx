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84" r:id="rId6"/>
    <p:sldId id="258" r:id="rId7"/>
    <p:sldId id="285" r:id="rId8"/>
    <p:sldId id="282" r:id="rId9"/>
    <p:sldId id="286" r:id="rId10"/>
    <p:sldId id="287" r:id="rId11"/>
    <p:sldId id="288" r:id="rId12"/>
    <p:sldId id="289" r:id="rId13"/>
    <p:sldId id="283" r:id="rId14"/>
    <p:sldId id="291" r:id="rId15"/>
    <p:sldId id="290" r:id="rId16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0655" autoAdjust="0"/>
  </p:normalViewPr>
  <p:slideViewPr>
    <p:cSldViewPr snapToGrid="0">
      <p:cViewPr varScale="1">
        <p:scale>
          <a:sx n="102" d="100"/>
          <a:sy n="102" d="100"/>
        </p:scale>
        <p:origin x="939" y="6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F456E1CD-5B60-4466-B275-926A3C2BF5C1}" type="datetime1">
              <a:rPr lang="de-DE" smtClean="0"/>
              <a:t>02.12.2025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28EEFA9E-C190-4F5C-8394-BD5F1CD55C02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FDF1D034-8769-4200-89E2-A3A6187E6BC9}" type="datetime1">
              <a:rPr lang="de-DE" smtClean="0"/>
              <a:t>02.12.2025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22289C57-55D7-40A4-A101-E74FAC7A092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2289C57-55D7-40A4-A101-E74FAC7A092B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2289C57-55D7-40A4-A101-E74FAC7A092B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C113E-8A45-296F-82B1-71B40C4A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FD3C9A0-276A-A6A5-BA44-48D215BFC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9F83241-6906-AE29-8825-ACD92D0A2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D4C329-05FE-625C-E48B-0C7757088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2289C57-55D7-40A4-A101-E74FAC7A092B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2552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2289C57-55D7-40A4-A101-E74FAC7A092B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9CD9C-DC3E-EB77-F190-7C1F0E5D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A81EC5B-5CFB-6C05-F078-096DA28BC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F71223-704D-0D42-0D1D-4AB1FC6E8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9631DC-0EE2-AEC4-9C3F-0FBAB2169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2289C57-55D7-40A4-A101-E74FAC7A092B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4861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BCF0-AD8E-E07B-5A76-E8388E21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DF6F6DB-E5CB-AEDB-AAEB-3F7E8B447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B1B4E7D-E671-2C0D-CA57-BE21DEBBE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BE9336-A8BD-1A42-125C-93C1BCBBA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2289C57-55D7-40A4-A101-E74FAC7A092B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22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E218-913C-8D44-C1BF-04192EC7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36E8647-FA14-09CA-DC18-B413AD623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850112-87EC-890C-0ED4-053E4DE11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DD2FB8-57B4-FAB8-0721-2619BD151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2289C57-55D7-40A4-A101-E74FAC7A092B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7832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E629E-CB83-7C32-D38D-EC1871E9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59AD6CB-4446-40CF-DDE2-950B98FA0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2AB9B8-575B-EB36-7E07-394424870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C01F60-C36D-89F5-6A95-A8A80A699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2289C57-55D7-40A4-A101-E74FAC7A092B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8932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de-DE" sz="3600" spc="150" baseline="0"/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pic>
        <p:nvPicPr>
          <p:cNvPr id="8" name="Grafik 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de-DE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de-DE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de-DE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de-DE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de-DE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de-DE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de-DE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de-DE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de-DE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Inhaltsplatzhalt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de-DE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de-DE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 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de-DE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de-DE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de-DE" sz="2000" b="1"/>
            </a:lvl2pPr>
            <a:lvl3pPr marL="914400" indent="0">
              <a:buNone/>
              <a:defRPr lang="de-DE" sz="1800" b="1"/>
            </a:lvl3pPr>
            <a:lvl4pPr marL="1371600" indent="0">
              <a:buNone/>
              <a:defRPr lang="de-DE" sz="1600" b="1"/>
            </a:lvl4pPr>
            <a:lvl5pPr marL="1828800" indent="0">
              <a:buNone/>
              <a:defRPr lang="de-DE" sz="1600" b="1"/>
            </a:lvl5pPr>
            <a:lvl6pPr marL="2286000" indent="0">
              <a:buNone/>
              <a:defRPr lang="de-DE" sz="1600" b="1"/>
            </a:lvl6pPr>
            <a:lvl7pPr marL="2743200" indent="0">
              <a:buNone/>
              <a:defRPr lang="de-DE" sz="1600" b="1"/>
            </a:lvl7pPr>
            <a:lvl8pPr marL="3200400" indent="0">
              <a:buNone/>
              <a:defRPr lang="de-DE" sz="1600" b="1"/>
            </a:lvl8pPr>
            <a:lvl9pPr marL="3657600" indent="0">
              <a:buNone/>
              <a:defRPr lang="de-DE" sz="1600" b="1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de-DE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de-DE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de-DE" sz="2000" b="1"/>
            </a:lvl2pPr>
            <a:lvl3pPr marL="914400" indent="0">
              <a:buNone/>
              <a:defRPr lang="de-DE" sz="1800" b="1"/>
            </a:lvl3pPr>
            <a:lvl4pPr marL="1371600" indent="0">
              <a:buNone/>
              <a:defRPr lang="de-DE" sz="1600" b="1"/>
            </a:lvl4pPr>
            <a:lvl5pPr marL="1828800" indent="0">
              <a:buNone/>
              <a:defRPr lang="de-DE" sz="1600" b="1"/>
            </a:lvl5pPr>
            <a:lvl6pPr marL="2286000" indent="0">
              <a:buNone/>
              <a:defRPr lang="de-DE" sz="1600" b="1"/>
            </a:lvl6pPr>
            <a:lvl7pPr marL="2743200" indent="0">
              <a:buNone/>
              <a:defRPr lang="de-DE" sz="1600" b="1"/>
            </a:lvl7pPr>
            <a:lvl8pPr marL="3200400" indent="0">
              <a:buNone/>
              <a:defRPr lang="de-DE" sz="1600" b="1"/>
            </a:lvl8pPr>
            <a:lvl9pPr marL="3657600" indent="0">
              <a:buNone/>
              <a:defRPr lang="de-DE" sz="1600" b="1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de-DE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de-DE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de-DE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de-DE" sz="2000" b="1"/>
            </a:lvl2pPr>
            <a:lvl3pPr marL="914400" indent="0">
              <a:buNone/>
              <a:defRPr lang="de-DE" sz="1800" b="1"/>
            </a:lvl3pPr>
            <a:lvl4pPr marL="1371600" indent="0">
              <a:buNone/>
              <a:defRPr lang="de-DE" sz="1600" b="1"/>
            </a:lvl4pPr>
            <a:lvl5pPr marL="1828800" indent="0">
              <a:buNone/>
              <a:defRPr lang="de-DE" sz="1600" b="1"/>
            </a:lvl5pPr>
            <a:lvl6pPr marL="2286000" indent="0">
              <a:buNone/>
              <a:defRPr lang="de-DE" sz="1600" b="1"/>
            </a:lvl6pPr>
            <a:lvl7pPr marL="2743200" indent="0">
              <a:buNone/>
              <a:defRPr lang="de-DE" sz="1600" b="1"/>
            </a:lvl7pPr>
            <a:lvl8pPr marL="3200400" indent="0">
              <a:buNone/>
              <a:defRPr lang="de-DE" sz="1600" b="1"/>
            </a:lvl8pPr>
            <a:lvl9pPr marL="3657600" indent="0">
              <a:buNone/>
              <a:defRPr lang="de-DE" sz="1600" b="1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de-DE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de-DE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de-DE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de-DE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de-DE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de-DE" sz="2000" b="1"/>
            </a:lvl2pPr>
            <a:lvl3pPr marL="914400" indent="0">
              <a:buNone/>
              <a:defRPr lang="de-DE" sz="1800" b="1"/>
            </a:lvl3pPr>
            <a:lvl4pPr marL="1371600" indent="0">
              <a:buNone/>
              <a:defRPr lang="de-DE" sz="1600" b="1"/>
            </a:lvl4pPr>
            <a:lvl5pPr marL="1828800" indent="0">
              <a:buNone/>
              <a:defRPr lang="de-DE" sz="1600" b="1"/>
            </a:lvl5pPr>
            <a:lvl6pPr marL="2286000" indent="0">
              <a:buNone/>
              <a:defRPr lang="de-DE" sz="1600" b="1"/>
            </a:lvl6pPr>
            <a:lvl7pPr marL="2743200" indent="0">
              <a:buNone/>
              <a:defRPr lang="de-DE" sz="1600" b="1"/>
            </a:lvl7pPr>
            <a:lvl8pPr marL="3200400" indent="0">
              <a:buNone/>
              <a:defRPr lang="de-DE" sz="1600" b="1"/>
            </a:lvl8pPr>
            <a:lvl9pPr marL="3657600" indent="0">
              <a:buNone/>
              <a:defRPr lang="de-DE" sz="1600" b="1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Inhaltsplatzhalt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de-DE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de-DE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de-DE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 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de-DE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Inhaltsplatzhalt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de-DE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Tabellenplatzhalter 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de-DE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de-DE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de-DE" sz="2000" b="1"/>
            </a:lvl2pPr>
            <a:lvl3pPr marL="914400" indent="0">
              <a:buNone/>
              <a:defRPr lang="de-DE" sz="1800" b="1"/>
            </a:lvl3pPr>
            <a:lvl4pPr marL="1371600" indent="0">
              <a:buNone/>
              <a:defRPr lang="de-DE" sz="1600" b="1"/>
            </a:lvl4pPr>
            <a:lvl5pPr marL="1828800" indent="0">
              <a:buNone/>
              <a:defRPr lang="de-DE" sz="1600" b="1"/>
            </a:lvl5pPr>
            <a:lvl6pPr marL="2286000" indent="0">
              <a:buNone/>
              <a:defRPr lang="de-DE" sz="1600" b="1"/>
            </a:lvl6pPr>
            <a:lvl7pPr marL="2743200" indent="0">
              <a:buNone/>
              <a:defRPr lang="de-DE" sz="1600" b="1"/>
            </a:lvl7pPr>
            <a:lvl8pPr marL="3200400" indent="0">
              <a:buNone/>
              <a:defRPr lang="de-DE" sz="1600" b="1"/>
            </a:lvl8pPr>
            <a:lvl9pPr marL="3657600" indent="0">
              <a:buNone/>
              <a:defRPr lang="de-DE" sz="1600" b="1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de-DE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de-DE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de-DE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de-DE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de-DE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de-DE" sz="2000" b="1"/>
            </a:lvl2pPr>
            <a:lvl3pPr marL="914400" indent="0">
              <a:buNone/>
              <a:defRPr lang="de-DE" sz="1800" b="1"/>
            </a:lvl3pPr>
            <a:lvl4pPr marL="1371600" indent="0">
              <a:buNone/>
              <a:defRPr lang="de-DE" sz="1600" b="1"/>
            </a:lvl4pPr>
            <a:lvl5pPr marL="1828800" indent="0">
              <a:buNone/>
              <a:defRPr lang="de-DE" sz="1600" b="1"/>
            </a:lvl5pPr>
            <a:lvl6pPr marL="2286000" indent="0">
              <a:buNone/>
              <a:defRPr lang="de-DE" sz="1600" b="1"/>
            </a:lvl6pPr>
            <a:lvl7pPr marL="2743200" indent="0">
              <a:buNone/>
              <a:defRPr lang="de-DE" sz="1600" b="1"/>
            </a:lvl7pPr>
            <a:lvl8pPr marL="3200400" indent="0">
              <a:buNone/>
              <a:defRPr lang="de-DE" sz="1600" b="1"/>
            </a:lvl8pPr>
            <a:lvl9pPr marL="3657600" indent="0">
              <a:buNone/>
              <a:defRPr lang="de-DE" sz="1600" b="1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de-DE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spc="50" baseline="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3" name="Grafik 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de-DE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/>
              <a:t>Titel durch Klicken hinzuzufügen</a:t>
            </a:r>
          </a:p>
        </p:txBody>
      </p:sp>
      <p:sp>
        <p:nvSpPr>
          <p:cNvPr id="8" name="Tabellenplatzhalter 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chlussbemerku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de-DE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einen Titel hinzuzufügen.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de-DE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pic>
        <p:nvPicPr>
          <p:cNvPr id="6" name="Grafik 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de-DE" sz="900"/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11" name="Foliennummernplatzhalt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de-DE" sz="900"/>
            </a:lvl1pPr>
          </a:lstStyle>
          <a:p>
            <a:pPr rtl="0"/>
            <a:fld id="{A49DFD55-3C28-40EF-9E31-A92D2E4017F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7086" y="3557218"/>
            <a:ext cx="6234914" cy="3300782"/>
          </a:xfrm>
        </p:spPr>
        <p:txBody>
          <a:bodyPr rtlCol="0" anchor="ctr"/>
          <a:lstStyle>
            <a:defPPr>
              <a:defRPr lang="de-DE"/>
            </a:defPPr>
          </a:lstStyle>
          <a:p>
            <a:pPr rtl="0"/>
            <a:r>
              <a:rPr lang="de-DE" dirty="0"/>
              <a:t>Vollständige Induktion </a:t>
            </a:r>
            <a:br>
              <a:rPr lang="de-DE" dirty="0"/>
            </a:br>
            <a:r>
              <a:rPr lang="de-DE" dirty="0"/>
              <a:t>- ein Beweisverfahren</a:t>
            </a:r>
            <a:br>
              <a:rPr lang="de-DE" dirty="0"/>
            </a:br>
            <a:br>
              <a:rPr lang="de-DE" dirty="0"/>
            </a:br>
            <a:r>
              <a:rPr lang="de-DE" sz="2400" dirty="0"/>
              <a:t>Wie funktioniert es und warum ist es so wichtig?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01B9604-7619-1DD3-4966-6573A19A52BB}"/>
              </a:ext>
            </a:extLst>
          </p:cNvPr>
          <p:cNvSpPr txBox="1"/>
          <p:nvPr/>
        </p:nvSpPr>
        <p:spPr>
          <a:xfrm>
            <a:off x="6096000" y="6339840"/>
            <a:ext cx="586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latin typeface="Tenorite (Überschrift)"/>
              </a:rPr>
              <a:t>Von Tom Roth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0324D-3447-E006-017D-320E7691B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BDBB37-2FC9-5AD4-BC55-5D0D0F0902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Mathematisches Beweisen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Aufbau der vollständigen Induktion Anhand der Gaußschen Summenformel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Beispiel aus der analytischen Geometrie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Fazit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C0FEDB-30D4-FE61-065C-D8AB7A73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de-DE" smtClean="0"/>
              <a:pPr rtl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73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mathematisches Beweisen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Aussagen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Logikoperatoren</a:t>
            </a:r>
          </a:p>
          <a:p>
            <a:pPr marL="569214" lvl="1"/>
            <a:r>
              <a:rPr lang="de-DE" dirty="0"/>
              <a:t>Wahrheitstabellen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A49DFD55-3C28-40EF-9E31-A92D2E4017FF}" type="slidenum">
              <a:rPr lang="de-DE" smtClean="0"/>
              <a:pPr rtl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42A2-7D4F-115E-B7DB-366934F2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DAE54E-9AE9-6670-DA68-2961D9CA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mathematisches Beweisen</a:t>
            </a:r>
            <a:br>
              <a:rPr lang="de-DE" dirty="0"/>
            </a:br>
            <a:r>
              <a:rPr lang="de-DE" dirty="0"/>
              <a:t>- bisherige </a:t>
            </a:r>
            <a:r>
              <a:rPr lang="de-DE" dirty="0" err="1"/>
              <a:t>BeweisArten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59C5A2C7-53A5-1212-1B16-8EBEA31CBEB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322388" y="2767767"/>
                <a:ext cx="7288212" cy="3407051"/>
              </a:xfrm>
            </p:spPr>
            <p:txBody>
              <a:bodyPr rtlCol="0">
                <a:normAutofit/>
              </a:bodyPr>
              <a:lstStyle>
                <a:defPPr>
                  <a:defRPr lang="de-DE"/>
                </a:def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Direkter Beweis: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⇒ </m:t>
                    </m:r>
                    <m:r>
                      <m:rPr>
                        <m:sty m:val="p"/>
                      </m:rPr>
                      <a:rPr lang="de-DE" i="1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de-DE" dirty="0"/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de-DE" dirty="0"/>
                  <a:t>Indirekter Beweis:</a:t>
                </a:r>
                <a14:m>
                  <m:oMath xmlns:m="http://schemas.openxmlformats.org/officeDocument/2006/math">
                    <m:r>
                      <a:rPr lang="de-DE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⇒ ¬</m:t>
                    </m:r>
                    <m:r>
                      <m:rPr>
                        <m:sty m:val="p"/>
                      </m:rP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endParaRPr lang="de-DE" dirty="0"/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de-DE" dirty="0"/>
                  <a:t>Widerspruchsbeweis: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⇒ (</m:t>
                    </m:r>
                    <m:r>
                      <m:rPr>
                        <m:sty m:val="p"/>
                      </m:rP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∧ ¬</m:t>
                    </m:r>
                    <m:r>
                      <m:rPr>
                        <m:sty m:val="p"/>
                      </m:rP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59C5A2C7-53A5-1212-1B16-8EBEA31CB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322388" y="2767767"/>
                <a:ext cx="7288212" cy="3407051"/>
              </a:xfrm>
              <a:blipFill>
                <a:blip r:embed="rId3"/>
                <a:stretch>
                  <a:fillRect l="-585" t="-89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53315B77-5B5C-2E34-6A1B-4FFCE603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A49DFD55-3C28-40EF-9E31-A92D2E4017FF}" type="slidenum">
              <a:rPr lang="de-DE" smtClean="0"/>
              <a:pPr rtl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376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Vollständige Induktion </a:t>
            </a:r>
            <a:br>
              <a:rPr lang="de-DE" dirty="0"/>
            </a:br>
            <a:r>
              <a:rPr lang="de-DE" dirty="0"/>
              <a:t>– Beispiel gaußsche Summenformel</a:t>
            </a:r>
          </a:p>
        </p:txBody>
      </p:sp>
      <p:sp>
        <p:nvSpPr>
          <p:cNvPr id="68" name="Foliennummernplatzhalt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A49DFD55-3C28-40EF-9E31-A92D2E4017FF}" type="slidenum">
              <a:rPr lang="de-DE" smtClean="0"/>
              <a:pPr rtl="0"/>
              <a:t>5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5A67275-5C16-7B57-14D0-871F465DBD8B}"/>
                  </a:ext>
                </a:extLst>
              </p:cNvPr>
              <p:cNvSpPr txBox="1"/>
              <p:nvPr/>
            </p:nvSpPr>
            <p:spPr>
              <a:xfrm>
                <a:off x="1341120" y="2822917"/>
                <a:ext cx="9953308" cy="2774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 + 2 +…+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?</m:t>
                      </m:r>
                    </m:oMath>
                  </m:oMathPara>
                </a14:m>
                <a:endParaRPr lang="de-DE" b="0" dirty="0"/>
              </a:p>
              <a:p>
                <a:r>
                  <a:rPr lang="de-DE" dirty="0"/>
                  <a:t>Gauß: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 + 2 +…+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+ 1)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endParaRPr lang="de-DE" dirty="0"/>
              </a:p>
              <a:p>
                <a:r>
                  <a:rPr lang="de-DE" dirty="0"/>
                  <a:t>Zu beweisende Aussage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1 + 2 +… +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m:rPr>
                          <m:nor/>
                        </m:rPr>
                        <a:rPr lang="de-DE"/>
                        <m:t>ℕ</m:t>
                      </m:r>
                      <m:r>
                        <m:rPr>
                          <m:nor/>
                        </m:rPr>
                        <a:rPr lang="de-DE" b="0" i="0" smtClean="0"/>
                        <m:t>, </m:t>
                      </m:r>
                      <m:r>
                        <m:rPr>
                          <m:nor/>
                        </m:rPr>
                        <a:rPr lang="de-DE" b="0" i="0" smtClean="0"/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5A67275-5C16-7B57-14D0-871F465DB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20" y="2822917"/>
                <a:ext cx="9953308" cy="2774477"/>
              </a:xfrm>
              <a:prstGeom prst="rect">
                <a:avLst/>
              </a:prstGeom>
              <a:blipFill>
                <a:blip r:embed="rId3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CE59-C15E-97C7-819F-7A212A65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597F33-C113-5B43-C8B7-56CE44D8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Vollständige Induktion </a:t>
            </a:r>
            <a:br>
              <a:rPr lang="de-DE" dirty="0"/>
            </a:br>
            <a:r>
              <a:rPr lang="de-DE" dirty="0"/>
              <a:t>– Beispiel gaußsche Summenformel</a:t>
            </a:r>
          </a:p>
        </p:txBody>
      </p:sp>
      <p:sp>
        <p:nvSpPr>
          <p:cNvPr id="68" name="Foliennummernplatzhalter 67">
            <a:extLst>
              <a:ext uri="{FF2B5EF4-FFF2-40B4-BE49-F238E27FC236}">
                <a16:creationId xmlns:a16="http://schemas.microsoft.com/office/drawing/2014/main" id="{A5660201-7246-F9A3-69A3-7010D19C98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A49DFD55-3C28-40EF-9E31-A92D2E4017FF}" type="slidenum">
              <a:rPr lang="de-DE" smtClean="0"/>
              <a:pPr rtl="0"/>
              <a:t>6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D3F1895-EAEE-3088-3075-83BB44B299AE}"/>
                  </a:ext>
                </a:extLst>
              </p:cNvPr>
              <p:cNvSpPr txBox="1"/>
              <p:nvPr/>
            </p:nvSpPr>
            <p:spPr>
              <a:xfrm>
                <a:off x="1341120" y="2822917"/>
                <a:ext cx="9953308" cy="3111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1.Schritt Induktionsanfang: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Zeigen, dass die Aussage für ein spezifisches n (meist n=1) gilt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1⋅ (1 + 1)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 = 1 ∎</m:t>
                      </m:r>
                    </m:oMath>
                  </m:oMathPara>
                </a14:m>
                <a:endParaRPr lang="de-DE" b="0" dirty="0"/>
              </a:p>
              <a:p>
                <a:endParaRPr lang="de-DE" b="0" dirty="0"/>
              </a:p>
              <a:p>
                <a:r>
                  <a:rPr lang="de-DE" dirty="0"/>
                  <a:t>-&gt; Aussage ist für n=1 wahr.</a:t>
                </a:r>
                <a:endParaRPr lang="de-DE" b="0" dirty="0"/>
              </a:p>
              <a:p>
                <a:endParaRPr lang="de-DE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D3F1895-EAEE-3088-3075-83BB44B2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20" y="2822917"/>
                <a:ext cx="9953308" cy="3111108"/>
              </a:xfrm>
              <a:prstGeom prst="rect">
                <a:avLst/>
              </a:prstGeom>
              <a:blipFill>
                <a:blip r:embed="rId3"/>
                <a:stretch>
                  <a:fillRect l="-490" t="-98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75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6984-0CB9-1271-B375-518A8AE66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23974-FB2E-22CC-5A54-7CE6001D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Vollständige Induktion </a:t>
            </a:r>
            <a:br>
              <a:rPr lang="de-DE" dirty="0"/>
            </a:br>
            <a:r>
              <a:rPr lang="de-DE" dirty="0"/>
              <a:t>– Beispiel gaußsche Summenformel</a:t>
            </a:r>
          </a:p>
        </p:txBody>
      </p:sp>
      <p:sp>
        <p:nvSpPr>
          <p:cNvPr id="68" name="Foliennummernplatzhalter 67">
            <a:extLst>
              <a:ext uri="{FF2B5EF4-FFF2-40B4-BE49-F238E27FC236}">
                <a16:creationId xmlns:a16="http://schemas.microsoft.com/office/drawing/2014/main" id="{9A8B301E-7076-D2D9-B28E-B6F38BCEB9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A49DFD55-3C28-40EF-9E31-A92D2E4017FF}" type="slidenum">
              <a:rPr lang="de-DE" smtClean="0"/>
              <a:pPr rtl="0"/>
              <a:t>7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02DCDD-F4E3-8EA2-C030-DAC5501ECC63}"/>
                  </a:ext>
                </a:extLst>
              </p:cNvPr>
              <p:cNvSpPr txBox="1"/>
              <p:nvPr/>
            </p:nvSpPr>
            <p:spPr>
              <a:xfrm>
                <a:off x="1341120" y="2822917"/>
                <a:ext cx="99533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2.Schritt Induktionsschritt: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Induktionsvoraussetzung: man nimmt an, dass A(n) wahr ist.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0" dirty="0"/>
                  <a:t>Zeigen, dass, wenn A(n) wahr ist, A(n + 1) dann auch wahr ist: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02DCDD-F4E3-8EA2-C030-DAC5501EC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20" y="2822917"/>
                <a:ext cx="9953308" cy="1200329"/>
              </a:xfrm>
              <a:prstGeom prst="rect">
                <a:avLst/>
              </a:prstGeom>
              <a:blipFill>
                <a:blip r:embed="rId3"/>
                <a:stretch>
                  <a:fillRect l="-490" t="-2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05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96FC7-C37A-7902-36EB-819888E2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28E17-CC15-97D6-2AD0-3CD11181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Vollständige Induktion </a:t>
            </a:r>
            <a:br>
              <a:rPr lang="de-DE" dirty="0"/>
            </a:br>
            <a:r>
              <a:rPr lang="de-DE" dirty="0"/>
              <a:t>– Beispiel gaußsche Summenformel</a:t>
            </a:r>
          </a:p>
        </p:txBody>
      </p:sp>
      <p:sp>
        <p:nvSpPr>
          <p:cNvPr id="68" name="Foliennummernplatzhalter 67">
            <a:extLst>
              <a:ext uri="{FF2B5EF4-FFF2-40B4-BE49-F238E27FC236}">
                <a16:creationId xmlns:a16="http://schemas.microsoft.com/office/drawing/2014/main" id="{01C8B88F-8541-63F4-A4F1-43E9AA7CC8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A49DFD55-3C28-40EF-9E31-A92D2E4017FF}" type="slidenum">
              <a:rPr lang="de-DE" smtClean="0"/>
              <a:pPr rtl="0"/>
              <a:t>8</a:t>
            </a:fld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B188253-0506-572A-04F2-A4E91647C49D}"/>
              </a:ext>
            </a:extLst>
          </p:cNvPr>
          <p:cNvSpPr txBox="1"/>
          <p:nvPr/>
        </p:nvSpPr>
        <p:spPr>
          <a:xfrm>
            <a:off x="1341120" y="2822917"/>
            <a:ext cx="9953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Schlussfolgerung:</a:t>
            </a:r>
          </a:p>
          <a:p>
            <a:endParaRPr lang="de-DE" dirty="0"/>
          </a:p>
          <a:p>
            <a:r>
              <a:rPr lang="de-DE" dirty="0"/>
              <a:t>	Aus Induktionsanfang und Induktionsschluss folgt, dass die Aussage A für alle natürlichen 	Zahlen 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</a:t>
            </a:r>
            <a:r>
              <a:rPr lang="de-DE" dirty="0"/>
              <a:t>1 wahr ist. </a:t>
            </a:r>
            <a:endParaRPr lang="de-DE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44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F7288-3E40-8686-606A-06A3FE8A2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194B3-905D-780D-81DD-FF9A8CAF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Beispiel aus der analytischen Geometrie</a:t>
            </a:r>
          </a:p>
        </p:txBody>
      </p:sp>
      <p:sp>
        <p:nvSpPr>
          <p:cNvPr id="68" name="Foliennummernplatzhalter 67">
            <a:extLst>
              <a:ext uri="{FF2B5EF4-FFF2-40B4-BE49-F238E27FC236}">
                <a16:creationId xmlns:a16="http://schemas.microsoft.com/office/drawing/2014/main" id="{56139F97-EABF-34C7-145E-CBFF24C645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A49DFD55-3C28-40EF-9E31-A92D2E4017FF}" type="slidenum">
              <a:rPr lang="de-DE" smtClean="0"/>
              <a:pPr rtl="0"/>
              <a:t>9</a:t>
            </a:fld>
            <a:endParaRPr lang="de-DE" dirty="0"/>
          </a:p>
        </p:txBody>
      </p:sp>
      <p:pic>
        <p:nvPicPr>
          <p:cNvPr id="4" name="Grafik 3" descr="Ein Bild, das Diagramm, Werkzeug, Design enthält.&#10;&#10;KI-generierte Inhalte können fehlerhaft sein.">
            <a:extLst>
              <a:ext uri="{FF2B5EF4-FFF2-40B4-BE49-F238E27FC236}">
                <a16:creationId xmlns:a16="http://schemas.microsoft.com/office/drawing/2014/main" id="{9964F091-C784-6890-EEE9-3767F2A2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339661"/>
            <a:ext cx="5314286" cy="3885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659C8E2-909F-4FB2-8B68-13242700676D}"/>
                  </a:ext>
                </a:extLst>
              </p:cNvPr>
              <p:cNvSpPr txBox="1"/>
              <p:nvPr/>
            </p:nvSpPr>
            <p:spPr>
              <a:xfrm>
                <a:off x="6790006" y="2532185"/>
                <a:ext cx="4504422" cy="1465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Maximale Anzahl an Schnittpunkten von </a:t>
                </a:r>
                <a:br>
                  <a:rPr lang="de-DE" dirty="0"/>
                </a:br>
                <a:r>
                  <a:rPr lang="de-DE" dirty="0"/>
                  <a:t>n Geraden:</a:t>
                </a:r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⋅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⋅ (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− 1)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659C8E2-909F-4FB2-8B68-132427006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006" y="2532185"/>
                <a:ext cx="4504422" cy="1465786"/>
              </a:xfrm>
              <a:prstGeom prst="rect">
                <a:avLst/>
              </a:prstGeom>
              <a:blipFill>
                <a:blip r:embed="rId4"/>
                <a:stretch>
                  <a:fillRect l="-1218" t="-20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19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64801-8D5D-A974-1A7C-DF001225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180A530-5C06-8D7D-955C-9E2A88EE9A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620C61-3163-D6F7-6A54-7E994E96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de-DE" smtClean="0"/>
              <a:pPr rtl="0"/>
              <a:t>10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624CC6-E578-74AC-FD48-2226E15AED7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3"/>
            <a:ext cx="5907176" cy="256652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Induktionsanfang (gilt für spezifisches 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Induktionsschritt (gilt für jeden Nachfolger)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Essenziell zum Beweisen von Aussagen über natürliche Zahlen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557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8A1D28-5BE4-B52A-5FA6-BC7F3762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3CE5A7-9295-551B-A8DB-F89DC6F59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8506240" cy="3407051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Textquellen:</a:t>
            </a:r>
          </a:p>
          <a:p>
            <a:r>
              <a:rPr lang="de-DE" dirty="0"/>
              <a:t>https://www.logik.uni-jena.de/logikmedia/75/einfuehrung-in-das-mathematischebeweisen.pdf (Stand 2.9.25)</a:t>
            </a:r>
            <a:br>
              <a:rPr lang="de-DE" dirty="0"/>
            </a:br>
            <a:r>
              <a:rPr lang="de-DE" dirty="0"/>
              <a:t>https://rg1-teaching.mpi-inf.mpg.de/old-ag2/teaching/dsl/v22-dsl.pdf (Stand 3.9.25)</a:t>
            </a:r>
            <a:br>
              <a:rPr lang="de-DE" dirty="0"/>
            </a:br>
            <a:r>
              <a:rPr lang="de-DE" dirty="0"/>
              <a:t>https://studyflix.de/mathematik/zahlenmengen-3260/natuerliche-zahlen (Stand 3.9.25)</a:t>
            </a:r>
            <a:br>
              <a:rPr lang="de-DE" dirty="0"/>
            </a:br>
            <a:r>
              <a:rPr lang="de-DE" dirty="0"/>
              <a:t>https://studyflix.de/mathematik/vollstandige-induktion-2406 (Stand 15.9.25)</a:t>
            </a:r>
            <a:br>
              <a:rPr lang="de-DE" dirty="0"/>
            </a:br>
            <a:r>
              <a:rPr lang="de-DE" dirty="0"/>
              <a:t>https://studyflix.de/mathematik/gaussche-summenformel-2408 (Stand 3.9.25)</a:t>
            </a:r>
            <a:br>
              <a:rPr lang="de-DE" dirty="0"/>
            </a:br>
            <a:r>
              <a:rPr lang="de-DE" dirty="0"/>
              <a:t>Lambacher Schweizer Mathematik für Gymnasien, Kursstufe – Leistungsfach, 2016, S. 286, Problem 1 6.2 </a:t>
            </a:r>
          </a:p>
          <a:p>
            <a:r>
              <a:rPr lang="de-DE" dirty="0"/>
              <a:t>Bildquellen:</a:t>
            </a:r>
          </a:p>
          <a:p>
            <a:r>
              <a:rPr lang="de-DE" dirty="0"/>
              <a:t>Lambacher Schweizer Mathematik für Gymnasien, Kursstufe – Leistungsfach, 2016, S. 286, Abb. 1.</a:t>
            </a:r>
            <a:br>
              <a:rPr lang="de-DE" dirty="0"/>
            </a:br>
            <a:r>
              <a:rPr lang="de-DE" dirty="0"/>
              <a:t>Lambacher Schweizer Mathematik für Gymnasien, Kursstufe – Leistungsfach, 2016, S. 286, Fig. 1.</a:t>
            </a:r>
            <a:br>
              <a:rPr lang="de-DE" dirty="0"/>
            </a:br>
            <a:r>
              <a:rPr lang="de-DE" dirty="0"/>
              <a:t>Lambacher Schweizer Mathematik für Gymnasien, Kursstufe – Leistungsfach, 2016, S. 286, Abb. 3.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15A0B9-0525-AAD2-D024-96E8850D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de-DE" smtClean="0"/>
              <a:pPr rtl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8802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6A998-75AB-F9BF-B0BB-6A458733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Vielen Dank für eure Aufmerksamkeit.</a:t>
            </a:r>
            <a:br>
              <a:rPr lang="de-DE" dirty="0"/>
            </a:br>
            <a:r>
              <a:rPr lang="de-DE" dirty="0"/>
              <a:t>Hab ihr noch Fragen?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A4DB8A-1B1F-782E-B454-326D9834CA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EC01AC-0A87-84F7-9FFB-E891FC4D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de-DE" smtClean="0"/>
              <a:pPr rtl="0"/>
              <a:t>12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40F5D74-9D20-2113-02C4-E337B76ADC3E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055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38_TF67328976_Win32" id="{B33B3472-3038-4EDE-B882-22737988B640}" vid="{AB05DB33-E781-44B8-AAD8-AFD94469E24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{F487F9AB-626D-4539-B535-D2CC6CA2F33A}TF7521aafa-c748-4c40-a498-ba511be234dcbefd805b_win32-e1f3e364b8dd</Template>
  <TotalTime>0</TotalTime>
  <Words>517</Words>
  <Application>Microsoft Office PowerPoint</Application>
  <PresentationFormat>Breitbild</PresentationFormat>
  <Paragraphs>73</Paragraphs>
  <Slides>12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Tenorite</vt:lpstr>
      <vt:lpstr>Tenorite (Überschrift)</vt:lpstr>
      <vt:lpstr>Times New Roman</vt:lpstr>
      <vt:lpstr>Office-Design</vt:lpstr>
      <vt:lpstr>Vollständige Induktion  - ein Beweisverfahren  Wie funktioniert es und warum ist es so wichtig?</vt:lpstr>
      <vt:lpstr>Gliederung</vt:lpstr>
      <vt:lpstr>mathematisches Beweisen</vt:lpstr>
      <vt:lpstr>mathematisches Beweisen - bisherige BeweisArten</vt:lpstr>
      <vt:lpstr>Vollständige Induktion  – Beispiel gaußsche Summenformel</vt:lpstr>
      <vt:lpstr>Vollständige Induktion  – Beispiel gaußsche Summenformel</vt:lpstr>
      <vt:lpstr>Vollständige Induktion  – Beispiel gaußsche Summenformel</vt:lpstr>
      <vt:lpstr>Vollständige Induktion  – Beispiel gaußsche Summenformel</vt:lpstr>
      <vt:lpstr>Beispiel aus der analytischen Geometrie</vt:lpstr>
      <vt:lpstr>Fazit</vt:lpstr>
      <vt:lpstr>Quellen</vt:lpstr>
      <vt:lpstr>Vielen Dank für eure Aufmerksamkeit. Hab ihr noch 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Roth</dc:creator>
  <cp:lastModifiedBy>Tom Roth</cp:lastModifiedBy>
  <cp:revision>7</cp:revision>
  <dcterms:created xsi:type="dcterms:W3CDTF">2025-12-01T19:02:39Z</dcterms:created>
  <dcterms:modified xsi:type="dcterms:W3CDTF">2025-12-02T22:16:24Z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